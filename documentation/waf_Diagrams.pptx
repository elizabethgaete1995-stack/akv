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0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523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09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653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77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600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388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971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4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499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926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81B9-1BD9-42C5-B8FD-291CB396BFDB}" type="datetimeFigureOut">
              <a:rPr lang="es-ES" smtClean="0"/>
              <a:t>12/11/2019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FE31A-62CD-4DB8-B190-85F80BE58E2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76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006" y="1645240"/>
            <a:ext cx="390145" cy="39014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536331" y="1736031"/>
            <a:ext cx="736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WLD_RG</a:t>
            </a:r>
          </a:p>
        </p:txBody>
      </p:sp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1524000" y="362510"/>
            <a:ext cx="4039673" cy="822346"/>
          </a:xfrm>
        </p:spPr>
        <p:txBody>
          <a:bodyPr>
            <a:normAutofit fontScale="90000"/>
          </a:bodyPr>
          <a:lstStyle/>
          <a:p>
            <a:r>
              <a:rPr lang="es-ES" sz="3600" dirty="0"/>
              <a:t>Architecture Diagram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2094006" y="2035385"/>
            <a:ext cx="3882021" cy="281995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6849D6D6-7242-401E-95E4-79F1534A3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727873" y="2576726"/>
            <a:ext cx="751846" cy="743712"/>
          </a:xfrm>
          <a:prstGeom prst="rect">
            <a:avLst/>
          </a:prstGeom>
        </p:spPr>
      </p:pic>
      <p:sp>
        <p:nvSpPr>
          <p:cNvPr id="12" name="Rectángulo 9">
            <a:extLst>
              <a:ext uri="{FF2B5EF4-FFF2-40B4-BE49-F238E27FC236}">
                <a16:creationId xmlns:a16="http://schemas.microsoft.com/office/drawing/2014/main" xmlns="" id="{3B893609-D9E8-421B-A84A-97EA87E674A5}"/>
              </a:ext>
            </a:extLst>
          </p:cNvPr>
          <p:cNvSpPr/>
          <p:nvPr/>
        </p:nvSpPr>
        <p:spPr>
          <a:xfrm>
            <a:off x="6388609" y="2035385"/>
            <a:ext cx="1609171" cy="281995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4">
            <a:extLst>
              <a:ext uri="{FF2B5EF4-FFF2-40B4-BE49-F238E27FC236}">
                <a16:creationId xmlns:a16="http://schemas.microsoft.com/office/drawing/2014/main" xmlns="" id="{281DCC4E-3E68-4741-9B26-EB306C25CC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038" y="1645240"/>
            <a:ext cx="390145" cy="390145"/>
          </a:xfrm>
          <a:prstGeom prst="rect">
            <a:avLst/>
          </a:prstGeom>
        </p:spPr>
      </p:pic>
      <p:sp>
        <p:nvSpPr>
          <p:cNvPr id="14" name="CuadroTexto 6">
            <a:extLst>
              <a:ext uri="{FF2B5EF4-FFF2-40B4-BE49-F238E27FC236}">
                <a16:creationId xmlns:a16="http://schemas.microsoft.com/office/drawing/2014/main" xmlns="" id="{3F442F1D-DC65-4E0F-A78C-D633F26F41EF}"/>
              </a:ext>
            </a:extLst>
          </p:cNvPr>
          <p:cNvSpPr txBox="1"/>
          <p:nvPr/>
        </p:nvSpPr>
        <p:spPr>
          <a:xfrm>
            <a:off x="6602363" y="1736031"/>
            <a:ext cx="877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MGMT_RG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50442DB7-CF98-4227-B316-E67A28601FD2}"/>
              </a:ext>
            </a:extLst>
          </p:cNvPr>
          <p:cNvSpPr/>
          <p:nvPr/>
        </p:nvSpPr>
        <p:spPr>
          <a:xfrm>
            <a:off x="3636614" y="2613130"/>
            <a:ext cx="27254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Diagnostics (Log/Metrics)</a:t>
            </a:r>
          </a:p>
        </p:txBody>
      </p:sp>
      <p:cxnSp>
        <p:nvCxnSpPr>
          <p:cNvPr id="24" name="Conector recto de flecha 23"/>
          <p:cNvCxnSpPr>
            <a:endCxn id="6" idx="1"/>
          </p:cNvCxnSpPr>
          <p:nvPr/>
        </p:nvCxnSpPr>
        <p:spPr>
          <a:xfrm flipV="1">
            <a:off x="3508925" y="2948582"/>
            <a:ext cx="3218948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13">
            <a:extLst>
              <a:ext uri="{FF2B5EF4-FFF2-40B4-BE49-F238E27FC236}">
                <a16:creationId xmlns:a16="http://schemas.microsoft.com/office/drawing/2014/main" xmlns="" id="{282527FB-8746-4A87-AFFC-287DFD254F2B}"/>
              </a:ext>
            </a:extLst>
          </p:cNvPr>
          <p:cNvSpPr txBox="1"/>
          <p:nvPr/>
        </p:nvSpPr>
        <p:spPr>
          <a:xfrm>
            <a:off x="2679181" y="3234135"/>
            <a:ext cx="1433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rgbClr val="0070C0"/>
                </a:solidFill>
              </a:rPr>
              <a:t>Azure Application Gateway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907" y="2710457"/>
            <a:ext cx="476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1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ángulo 64"/>
          <p:cNvSpPr/>
          <p:nvPr/>
        </p:nvSpPr>
        <p:spPr>
          <a:xfrm>
            <a:off x="4452012" y="3380409"/>
            <a:ext cx="1765819" cy="91278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Rectángulo 65"/>
          <p:cNvSpPr/>
          <p:nvPr/>
        </p:nvSpPr>
        <p:spPr>
          <a:xfrm>
            <a:off x="3664594" y="3309476"/>
            <a:ext cx="2676695" cy="105089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/>
          <p:cNvSpPr txBox="1"/>
          <p:nvPr/>
        </p:nvSpPr>
        <p:spPr>
          <a:xfrm>
            <a:off x="3560324" y="1137122"/>
            <a:ext cx="115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0070C0"/>
                </a:solidFill>
              </a:rPr>
              <a:t>AZURE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3271200" y="1389893"/>
            <a:ext cx="5763580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1" name="CuadroTexto 130"/>
          <p:cNvSpPr txBox="1"/>
          <p:nvPr/>
        </p:nvSpPr>
        <p:spPr>
          <a:xfrm>
            <a:off x="197597" y="141937"/>
            <a:ext cx="2743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Networking</a:t>
            </a:r>
            <a:r>
              <a:rPr lang="es-ES" sz="2000" dirty="0"/>
              <a:t> </a:t>
            </a:r>
            <a:r>
              <a:rPr lang="es-ES" sz="2400" dirty="0"/>
              <a:t>Diagram</a:t>
            </a:r>
            <a:endParaRPr lang="es-ES" sz="2000" dirty="0"/>
          </a:p>
        </p:txBody>
      </p:sp>
      <p:pic>
        <p:nvPicPr>
          <p:cNvPr id="29" name="Imagen 97">
            <a:extLst>
              <a:ext uri="{FF2B5EF4-FFF2-40B4-BE49-F238E27FC236}">
                <a16:creationId xmlns:a16="http://schemas.microsoft.com/office/drawing/2014/main" xmlns="" id="{B10C8FD7-1741-4B5C-B90E-A20137B40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199" y="1053438"/>
            <a:ext cx="353013" cy="353013"/>
          </a:xfrm>
          <a:prstGeom prst="rect">
            <a:avLst/>
          </a:prstGeom>
        </p:spPr>
      </p:pic>
      <p:pic>
        <p:nvPicPr>
          <p:cNvPr id="30" name="Imagen 10">
            <a:extLst>
              <a:ext uri="{FF2B5EF4-FFF2-40B4-BE49-F238E27FC236}">
                <a16:creationId xmlns:a16="http://schemas.microsoft.com/office/drawing/2014/main" xmlns="" id="{765CA1B7-8A9A-4C56-AA2A-22BF6ABC22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926" y="1586743"/>
            <a:ext cx="279942" cy="279942"/>
          </a:xfrm>
          <a:prstGeom prst="rect">
            <a:avLst/>
          </a:prstGeom>
        </p:spPr>
      </p:pic>
      <p:sp>
        <p:nvSpPr>
          <p:cNvPr id="33" name="CuadroTexto 13">
            <a:extLst>
              <a:ext uri="{FF2B5EF4-FFF2-40B4-BE49-F238E27FC236}">
                <a16:creationId xmlns:a16="http://schemas.microsoft.com/office/drawing/2014/main" xmlns="" id="{282527FB-8746-4A87-AFFC-287DFD254F2B}"/>
              </a:ext>
            </a:extLst>
          </p:cNvPr>
          <p:cNvSpPr txBox="1"/>
          <p:nvPr/>
        </p:nvSpPr>
        <p:spPr>
          <a:xfrm>
            <a:off x="6217365" y="1576472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rgbClr val="0070C0"/>
                </a:solidFill>
              </a:rPr>
              <a:t>WLD_SUBNET</a:t>
            </a:r>
            <a:endParaRPr lang="es-ES" sz="1200" dirty="0">
              <a:solidFill>
                <a:srgbClr val="0070C0"/>
              </a:solidFill>
            </a:endParaRPr>
          </a:p>
        </p:txBody>
      </p:sp>
      <p:sp>
        <p:nvSpPr>
          <p:cNvPr id="34" name="Rectángulo 23">
            <a:extLst>
              <a:ext uri="{FF2B5EF4-FFF2-40B4-BE49-F238E27FC236}">
                <a16:creationId xmlns:a16="http://schemas.microsoft.com/office/drawing/2014/main" xmlns="" id="{E4C12E7E-D4F0-4206-9CD2-7F5602FAEC68}"/>
              </a:ext>
            </a:extLst>
          </p:cNvPr>
          <p:cNvSpPr/>
          <p:nvPr/>
        </p:nvSpPr>
        <p:spPr>
          <a:xfrm>
            <a:off x="5963926" y="1867319"/>
            <a:ext cx="2044505" cy="76721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84">
            <a:extLst>
              <a:ext uri="{FF2B5EF4-FFF2-40B4-BE49-F238E27FC236}">
                <a16:creationId xmlns:a16="http://schemas.microsoft.com/office/drawing/2014/main" xmlns="" id="{CA94C0F4-2B6B-4264-9F07-D6D9FA77CAA5}"/>
              </a:ext>
            </a:extLst>
          </p:cNvPr>
          <p:cNvSpPr txBox="1"/>
          <p:nvPr/>
        </p:nvSpPr>
        <p:spPr>
          <a:xfrm>
            <a:off x="6341289" y="2105078"/>
            <a:ext cx="1289777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WLD_Resource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99BC392E-ACE9-4ECA-8617-298A0238E1D3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3560324" y="2250924"/>
            <a:ext cx="240360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84">
            <a:extLst>
              <a:ext uri="{FF2B5EF4-FFF2-40B4-BE49-F238E27FC236}">
                <a16:creationId xmlns:a16="http://schemas.microsoft.com/office/drawing/2014/main" xmlns="" id="{9C603149-2DF0-4C3F-975F-691DD1B83D6D}"/>
              </a:ext>
            </a:extLst>
          </p:cNvPr>
          <p:cNvSpPr txBox="1"/>
          <p:nvPr/>
        </p:nvSpPr>
        <p:spPr>
          <a:xfrm>
            <a:off x="6902121" y="2911406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Azure Resource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835F285D-AC0D-4CE8-A8F5-9350DEC5D2B2}"/>
              </a:ext>
            </a:extLst>
          </p:cNvPr>
          <p:cNvCxnSpPr>
            <a:cxnSpLocks/>
            <a:stCxn id="37" idx="1"/>
          </p:cNvCxnSpPr>
          <p:nvPr/>
        </p:nvCxnSpPr>
        <p:spPr>
          <a:xfrm flipH="1" flipV="1">
            <a:off x="3560324" y="3065294"/>
            <a:ext cx="334179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0456D49E-12E6-4CD5-9EE8-E5BA3C33AF4A}"/>
              </a:ext>
            </a:extLst>
          </p:cNvPr>
          <p:cNvCxnSpPr>
            <a:cxnSpLocks/>
          </p:cNvCxnSpPr>
          <p:nvPr/>
        </p:nvCxnSpPr>
        <p:spPr>
          <a:xfrm flipH="1">
            <a:off x="3667029" y="5700866"/>
            <a:ext cx="999414" cy="1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7E7555A4-89BC-42E6-A6D8-00E0AC8497AC}"/>
              </a:ext>
            </a:extLst>
          </p:cNvPr>
          <p:cNvSpPr/>
          <p:nvPr/>
        </p:nvSpPr>
        <p:spPr>
          <a:xfrm>
            <a:off x="1859225" y="6066103"/>
            <a:ext cx="27254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https://</a:t>
            </a:r>
            <a:r>
              <a:rPr lang="en-US" sz="800" i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&lt;nombre&gt;</a:t>
            </a:r>
            <a:r>
              <a:rPr lang="en-US" sz="8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.&lt;Management  </a:t>
            </a:r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Plane - Data plane:</a:t>
            </a:r>
          </a:p>
          <a:p>
            <a:r>
              <a:rPr lang="en-US" sz="8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service</a:t>
            </a:r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&gt;.</a:t>
            </a:r>
            <a:r>
              <a:rPr lang="en-US" sz="8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core.windows.net</a:t>
            </a:r>
          </a:p>
          <a:p>
            <a:pPr marL="171450" indent="-171450">
              <a:buFontTx/>
              <a:buChar char="-"/>
            </a:pPr>
            <a:r>
              <a:rPr lang="en-US" sz="8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RBAC</a:t>
            </a:r>
          </a:p>
          <a:p>
            <a:pPr marL="171450" indent="-171450">
              <a:buFontTx/>
              <a:buChar char="-"/>
            </a:pPr>
            <a:r>
              <a:rPr lang="en-US" sz="800" dirty="0" smtClean="0"/>
              <a:t>Public </a:t>
            </a:r>
            <a:r>
              <a:rPr lang="en-US" sz="800" dirty="0"/>
              <a:t>and internal load-balanced </a:t>
            </a:r>
            <a:r>
              <a:rPr lang="en-US" sz="800" dirty="0" smtClean="0"/>
              <a:t>endpoints: </a:t>
            </a:r>
          </a:p>
          <a:p>
            <a:r>
              <a:rPr lang="es-ES" sz="800" b="1" dirty="0" smtClean="0"/>
              <a:t>        Health probes Options:</a:t>
            </a:r>
            <a:r>
              <a:rPr lang="en-US" sz="800" dirty="0" smtClean="0"/>
              <a:t> HTTP &amp; HTTPS options</a:t>
            </a:r>
            <a:endParaRPr lang="en-US" sz="8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8892A885-1C8A-424A-AC0B-5ADE896A5C9F}"/>
              </a:ext>
            </a:extLst>
          </p:cNvPr>
          <p:cNvCxnSpPr>
            <a:cxnSpLocks/>
          </p:cNvCxnSpPr>
          <p:nvPr/>
        </p:nvCxnSpPr>
        <p:spPr>
          <a:xfrm>
            <a:off x="3560324" y="2250924"/>
            <a:ext cx="0" cy="1766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xmlns="" id="{7BF22451-0BBD-482A-8AD7-F607BB72E153}"/>
              </a:ext>
            </a:extLst>
          </p:cNvPr>
          <p:cNvSpPr/>
          <p:nvPr/>
        </p:nvSpPr>
        <p:spPr>
          <a:xfrm>
            <a:off x="2942101" y="5624739"/>
            <a:ext cx="129259" cy="134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ángulo 19">
            <a:extLst>
              <a:ext uri="{FF2B5EF4-FFF2-40B4-BE49-F238E27FC236}">
                <a16:creationId xmlns:a16="http://schemas.microsoft.com/office/drawing/2014/main" xmlns="" id="{5243690B-7E9A-4249-8DA1-AA3159E823AF}"/>
              </a:ext>
            </a:extLst>
          </p:cNvPr>
          <p:cNvSpPr/>
          <p:nvPr/>
        </p:nvSpPr>
        <p:spPr>
          <a:xfrm>
            <a:off x="295802" y="1389898"/>
            <a:ext cx="2165056" cy="4078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CuadroTexto 84">
            <a:extLst>
              <a:ext uri="{FF2B5EF4-FFF2-40B4-BE49-F238E27FC236}">
                <a16:creationId xmlns:a16="http://schemas.microsoft.com/office/drawing/2014/main" xmlns="" id="{9AF95CDD-AA64-4CF4-9C6D-C56D0A0F7C0F}"/>
              </a:ext>
            </a:extLst>
          </p:cNvPr>
          <p:cNvSpPr txBox="1"/>
          <p:nvPr/>
        </p:nvSpPr>
        <p:spPr>
          <a:xfrm>
            <a:off x="575857" y="4712223"/>
            <a:ext cx="1313649" cy="3077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DevOps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xmlns="" id="{13823879-EFFB-48B4-A92D-D086D35B786A}"/>
              </a:ext>
            </a:extLst>
          </p:cNvPr>
          <p:cNvCxnSpPr>
            <a:stCxn id="80" idx="3"/>
            <a:endCxn id="67" idx="2"/>
          </p:cNvCxnSpPr>
          <p:nvPr/>
        </p:nvCxnSpPr>
        <p:spPr>
          <a:xfrm>
            <a:off x="1889506" y="4866112"/>
            <a:ext cx="1052595" cy="825803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A close up of a logo&#10;&#10;Description generated with very high confidence">
            <a:extLst>
              <a:ext uri="{FF2B5EF4-FFF2-40B4-BE49-F238E27FC236}">
                <a16:creationId xmlns:a16="http://schemas.microsoft.com/office/drawing/2014/main" xmlns="" id="{6B96AE16-CB5D-4A7D-8A77-541F0C3455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79" y="2542189"/>
            <a:ext cx="508872" cy="508872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xmlns="" id="{DC480418-0944-4436-9508-0C38E0E8D207}"/>
              </a:ext>
            </a:extLst>
          </p:cNvPr>
          <p:cNvGrpSpPr/>
          <p:nvPr/>
        </p:nvGrpSpPr>
        <p:grpSpPr>
          <a:xfrm>
            <a:off x="2200299" y="4558362"/>
            <a:ext cx="481150" cy="481150"/>
            <a:chOff x="2200299" y="4558362"/>
            <a:chExt cx="481150" cy="481150"/>
          </a:xfrm>
        </p:grpSpPr>
        <p:pic>
          <p:nvPicPr>
            <p:cNvPr id="92" name="Imagen 97">
              <a:extLst>
                <a:ext uri="{FF2B5EF4-FFF2-40B4-BE49-F238E27FC236}">
                  <a16:creationId xmlns:a16="http://schemas.microsoft.com/office/drawing/2014/main" xmlns="" id="{31FD91E6-7F75-444B-9714-342449311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xmlns="" id="{0FA45F33-A524-4092-9C37-282EC8A66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xmlns="" id="{0CBD575F-FD7A-49D0-983F-344B97140779}"/>
              </a:ext>
            </a:extLst>
          </p:cNvPr>
          <p:cNvCxnSpPr>
            <a:cxnSpLocks/>
          </p:cNvCxnSpPr>
          <p:nvPr/>
        </p:nvCxnSpPr>
        <p:spPr>
          <a:xfrm>
            <a:off x="2129896" y="2789121"/>
            <a:ext cx="1535950" cy="2895290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xmlns="" id="{2F9EB189-380E-456D-B098-79F52799D57D}"/>
              </a:ext>
            </a:extLst>
          </p:cNvPr>
          <p:cNvGrpSpPr/>
          <p:nvPr/>
        </p:nvGrpSpPr>
        <p:grpSpPr>
          <a:xfrm>
            <a:off x="2191119" y="2495006"/>
            <a:ext cx="481150" cy="481150"/>
            <a:chOff x="2200299" y="4558362"/>
            <a:chExt cx="481150" cy="481150"/>
          </a:xfrm>
        </p:grpSpPr>
        <p:pic>
          <p:nvPicPr>
            <p:cNvPr id="99" name="Imagen 97">
              <a:extLst>
                <a:ext uri="{FF2B5EF4-FFF2-40B4-BE49-F238E27FC236}">
                  <a16:creationId xmlns:a16="http://schemas.microsoft.com/office/drawing/2014/main" xmlns="" id="{922481A7-52D5-4FDD-BF57-51608EE2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299" y="4558362"/>
              <a:ext cx="481150" cy="48115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xmlns="" id="{CC2CE8DE-64B4-44F3-B7B7-3166F45BF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0826" y="4731278"/>
              <a:ext cx="320802" cy="168421"/>
            </a:xfrm>
            <a:prstGeom prst="rect">
              <a:avLst/>
            </a:prstGeom>
          </p:spPr>
        </p:pic>
      </p:grpSp>
      <p:sp>
        <p:nvSpPr>
          <p:cNvPr id="101" name="CuadroTexto 13">
            <a:extLst>
              <a:ext uri="{FF2B5EF4-FFF2-40B4-BE49-F238E27FC236}">
                <a16:creationId xmlns:a16="http://schemas.microsoft.com/office/drawing/2014/main" xmlns="" id="{CE93D347-23F1-45D6-9699-DF6C64CB6BA8}"/>
              </a:ext>
            </a:extLst>
          </p:cNvPr>
          <p:cNvSpPr txBox="1"/>
          <p:nvPr/>
        </p:nvSpPr>
        <p:spPr>
          <a:xfrm>
            <a:off x="803457" y="3009259"/>
            <a:ext cx="2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2">
                    <a:lumMod val="50000"/>
                  </a:schemeClr>
                </a:solidFill>
              </a:rPr>
              <a:t>Usuarios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xmlns="" id="{45927516-BC0F-49C7-A973-8570DE075682}"/>
              </a:ext>
            </a:extLst>
          </p:cNvPr>
          <p:cNvSpPr/>
          <p:nvPr/>
        </p:nvSpPr>
        <p:spPr>
          <a:xfrm>
            <a:off x="3974953" y="2896776"/>
            <a:ext cx="272542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Allow traffic from Azure Resources / Outbound IPs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xmlns="" id="{2000211C-E213-478B-AFA0-F7F697C11D88}"/>
              </a:ext>
            </a:extLst>
          </p:cNvPr>
          <p:cNvSpPr/>
          <p:nvPr/>
        </p:nvSpPr>
        <p:spPr>
          <a:xfrm>
            <a:off x="2697075" y="5789874"/>
            <a:ext cx="7485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NSG: IP Filter</a:t>
            </a:r>
          </a:p>
        </p:txBody>
      </p:sp>
      <p:pic>
        <p:nvPicPr>
          <p:cNvPr id="117" name="Picture 116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98FEAEA4-B67D-4676-B59D-70094B82DE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74" y="759435"/>
            <a:ext cx="622474" cy="622474"/>
          </a:xfrm>
          <a:prstGeom prst="rect">
            <a:avLst/>
          </a:prstGeom>
        </p:spPr>
      </p:pic>
      <p:pic>
        <p:nvPicPr>
          <p:cNvPr id="119" name="Picture 118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010ABC1D-397B-4E80-B835-41FE8E1C8D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89" y="4933233"/>
            <a:ext cx="227747" cy="227747"/>
          </a:xfrm>
          <a:prstGeom prst="rect">
            <a:avLst/>
          </a:prstGeom>
        </p:spPr>
      </p:pic>
      <p:pic>
        <p:nvPicPr>
          <p:cNvPr id="123" name="Picture 122" descr="A close up of a logo&#10;&#10;Description generated with high confidence">
            <a:extLst>
              <a:ext uri="{FF2B5EF4-FFF2-40B4-BE49-F238E27FC236}">
                <a16:creationId xmlns:a16="http://schemas.microsoft.com/office/drawing/2014/main" xmlns="" id="{FBB1E247-72DA-4861-BC11-13AC39F14A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89" y="2883719"/>
            <a:ext cx="227747" cy="227747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xmlns="" id="{572E2529-AAD4-4C22-8440-57C8B07705C4}"/>
              </a:ext>
            </a:extLst>
          </p:cNvPr>
          <p:cNvSpPr/>
          <p:nvPr/>
        </p:nvSpPr>
        <p:spPr>
          <a:xfrm>
            <a:off x="1614908" y="5021851"/>
            <a:ext cx="10067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WLD SPN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xmlns="" id="{7FFDAD87-44A9-4AFD-9679-09F061A2704B}"/>
              </a:ext>
            </a:extLst>
          </p:cNvPr>
          <p:cNvSpPr/>
          <p:nvPr/>
        </p:nvSpPr>
        <p:spPr>
          <a:xfrm>
            <a:off x="1578170" y="3003744"/>
            <a:ext cx="10067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O365 ACCOUNT</a:t>
            </a:r>
          </a:p>
        </p:txBody>
      </p:sp>
      <p:sp>
        <p:nvSpPr>
          <p:cNvPr id="64" name="Rectangle 112">
            <a:extLst>
              <a:ext uri="{FF2B5EF4-FFF2-40B4-BE49-F238E27FC236}">
                <a16:creationId xmlns:a16="http://schemas.microsoft.com/office/drawing/2014/main" xmlns="" id="{BC7B19E3-EE0A-4BC6-B6DB-C68CDC1F10C7}"/>
              </a:ext>
            </a:extLst>
          </p:cNvPr>
          <p:cNvSpPr/>
          <p:nvPr/>
        </p:nvSpPr>
        <p:spPr>
          <a:xfrm>
            <a:off x="3664594" y="1852754"/>
            <a:ext cx="21593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/>
              <a:t>(Service Endpoint)</a:t>
            </a:r>
          </a:p>
          <a:p>
            <a:r>
              <a:rPr lang="en-US" sz="800" dirty="0" smtClean="0"/>
              <a:t>Srv Firewall: Allow traffic from Subnet</a:t>
            </a:r>
            <a:endParaRPr lang="en-US" sz="800" dirty="0"/>
          </a:p>
        </p:txBody>
      </p:sp>
      <p:sp>
        <p:nvSpPr>
          <p:cNvPr id="56" name="CuadroTexto 13">
            <a:extLst>
              <a:ext uri="{FF2B5EF4-FFF2-40B4-BE49-F238E27FC236}">
                <a16:creationId xmlns:a16="http://schemas.microsoft.com/office/drawing/2014/main" xmlns="" id="{282527FB-8746-4A87-AFFC-287DFD254F2B}"/>
              </a:ext>
            </a:extLst>
          </p:cNvPr>
          <p:cNvSpPr txBox="1"/>
          <p:nvPr/>
        </p:nvSpPr>
        <p:spPr>
          <a:xfrm>
            <a:off x="4676651" y="3876465"/>
            <a:ext cx="156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rgbClr val="0070C0"/>
                </a:solidFill>
              </a:rPr>
              <a:t>Azure Application Gateway</a:t>
            </a:r>
            <a:endParaRPr lang="es-ES" sz="1200" dirty="0">
              <a:solidFill>
                <a:srgbClr val="0070C0"/>
              </a:solidFill>
            </a:endParaRPr>
          </a:p>
        </p:txBody>
      </p:sp>
      <p:pic>
        <p:nvPicPr>
          <p:cNvPr id="49" name="Imagen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820" y="3463349"/>
            <a:ext cx="476250" cy="476250"/>
          </a:xfrm>
          <a:prstGeom prst="rect">
            <a:avLst/>
          </a:prstGeom>
        </p:spPr>
      </p:pic>
      <p:sp>
        <p:nvSpPr>
          <p:cNvPr id="52" name="Rectangle 114">
            <a:extLst>
              <a:ext uri="{FF2B5EF4-FFF2-40B4-BE49-F238E27FC236}">
                <a16:creationId xmlns:a16="http://schemas.microsoft.com/office/drawing/2014/main" xmlns="" id="{2000211C-E213-478B-AFA0-F7F697C11D88}"/>
              </a:ext>
            </a:extLst>
          </p:cNvPr>
          <p:cNvSpPr/>
          <p:nvPr/>
        </p:nvSpPr>
        <p:spPr>
          <a:xfrm>
            <a:off x="3917874" y="3678948"/>
            <a:ext cx="7485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/>
              <a:t>Private IP WAF</a:t>
            </a:r>
            <a:endParaRPr lang="en-US" sz="800" dirty="0"/>
          </a:p>
        </p:txBody>
      </p:sp>
      <p:sp>
        <p:nvSpPr>
          <p:cNvPr id="42" name="Rectángulo 19">
            <a:extLst>
              <a:ext uri="{FF2B5EF4-FFF2-40B4-BE49-F238E27FC236}">
                <a16:creationId xmlns="" xmlns:a16="http://schemas.microsoft.com/office/drawing/2014/main" id="{5243690B-7E9A-4249-8DA1-AA3159E823AF}"/>
              </a:ext>
            </a:extLst>
          </p:cNvPr>
          <p:cNvSpPr/>
          <p:nvPr/>
        </p:nvSpPr>
        <p:spPr>
          <a:xfrm>
            <a:off x="3422790" y="1517186"/>
            <a:ext cx="5467210" cy="384221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3" name="Grupo 42"/>
          <p:cNvGrpSpPr/>
          <p:nvPr/>
        </p:nvGrpSpPr>
        <p:grpSpPr>
          <a:xfrm>
            <a:off x="3578835" y="1555094"/>
            <a:ext cx="396118" cy="316072"/>
            <a:chOff x="9494356" y="5617624"/>
            <a:chExt cx="514185" cy="514185"/>
          </a:xfrm>
        </p:grpSpPr>
        <p:sp>
          <p:nvSpPr>
            <p:cNvPr id="44" name="Rectángulo 43"/>
            <p:cNvSpPr/>
            <p:nvPr/>
          </p:nvSpPr>
          <p:spPr>
            <a:xfrm>
              <a:off x="9498396" y="5723369"/>
              <a:ext cx="504000" cy="302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5" name="Imagen 4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4356" y="5617624"/>
              <a:ext cx="514185" cy="514185"/>
            </a:xfrm>
            <a:prstGeom prst="rect">
              <a:avLst/>
            </a:prstGeom>
          </p:spPr>
        </p:pic>
      </p:grpSp>
      <p:sp>
        <p:nvSpPr>
          <p:cNvPr id="46" name="CuadroTexto 45"/>
          <p:cNvSpPr txBox="1"/>
          <p:nvPr/>
        </p:nvSpPr>
        <p:spPr>
          <a:xfrm>
            <a:off x="3512560" y="1560183"/>
            <a:ext cx="1393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9D6"/>
                </a:solidFill>
              </a:rPr>
              <a:t>vNet</a:t>
            </a:r>
            <a:endParaRPr lang="es-ES" sz="1200" dirty="0">
              <a:solidFill>
                <a:srgbClr val="0079D6"/>
              </a:solidFill>
            </a:endParaRPr>
          </a:p>
        </p:txBody>
      </p:sp>
      <p:cxnSp>
        <p:nvCxnSpPr>
          <p:cNvPr id="14" name="Conector recto de flecha 13"/>
          <p:cNvCxnSpPr/>
          <p:nvPr/>
        </p:nvCxnSpPr>
        <p:spPr>
          <a:xfrm flipV="1">
            <a:off x="4666443" y="4376828"/>
            <a:ext cx="0" cy="1325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3560324" y="4017502"/>
            <a:ext cx="104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66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A5E4F986F62E4E9427F30B20D2FFC6" ma:contentTypeVersion="16" ma:contentTypeDescription="Create a new document." ma:contentTypeScope="" ma:versionID="eabe24553a6c8f53033a01a01358557e">
  <xsd:schema xmlns:xsd="http://www.w3.org/2001/XMLSchema" xmlns:xs="http://www.w3.org/2001/XMLSchema" xmlns:p="http://schemas.microsoft.com/office/2006/metadata/properties" xmlns:ns2="c49722af-21ed-4ce1-a787-063fcc632a69" xmlns:ns3="7d97ce5f-88ad-46ad-a296-429e247abb5a" targetNamespace="http://schemas.microsoft.com/office/2006/metadata/properties" ma:root="true" ma:fieldsID="f99f45b6ac2abb5b4f8781599233d292" ns2:_="" ns3:_="">
    <xsd:import namespace="c49722af-21ed-4ce1-a787-063fcc632a69"/>
    <xsd:import namespace="7d97ce5f-88ad-46ad-a296-429e247abb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722af-21ed-4ce1-a787-063fcc632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7ce5f-88ad-46ad-a296-429e247abb5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b80491c1-b099-4825-8178-1d763a31cbc1}" ma:internalName="TaxCatchAll" ma:showField="CatchAllData" ma:web="7d97ce5f-88ad-46ad-a296-429e247abb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722af-21ed-4ce1-a787-063fcc632a69">
      <Terms xmlns="http://schemas.microsoft.com/office/infopath/2007/PartnerControls"/>
    </lcf76f155ced4ddcb4097134ff3c332f>
    <TaxCatchAll xmlns="7d97ce5f-88ad-46ad-a296-429e247abb5a" xsi:nil="true"/>
  </documentManagement>
</p:properties>
</file>

<file path=customXml/itemProps1.xml><?xml version="1.0" encoding="utf-8"?>
<ds:datastoreItem xmlns:ds="http://schemas.openxmlformats.org/officeDocument/2006/customXml" ds:itemID="{A7411F7B-8541-4D28-BEFD-536481C1EBEC}"/>
</file>

<file path=customXml/itemProps2.xml><?xml version="1.0" encoding="utf-8"?>
<ds:datastoreItem xmlns:ds="http://schemas.openxmlformats.org/officeDocument/2006/customXml" ds:itemID="{D9F01FD6-1819-4EAD-BE93-3189DD0F9594}"/>
</file>

<file path=customXml/itemProps3.xml><?xml version="1.0" encoding="utf-8"?>
<ds:datastoreItem xmlns:ds="http://schemas.openxmlformats.org/officeDocument/2006/customXml" ds:itemID="{83053242-80D2-4952-9361-44AEE381FB98}"/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85</Words>
  <Application>Microsoft Office PowerPoint</Application>
  <PresentationFormat>Panorámica</PresentationFormat>
  <Paragraphs>26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Tema de Office</vt:lpstr>
      <vt:lpstr>Architecture Diagram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RESTREPO ALONSO PAULA</dc:creator>
  <cp:lastModifiedBy>Saez Fernandez Israel</cp:lastModifiedBy>
  <cp:revision>55</cp:revision>
  <dcterms:created xsi:type="dcterms:W3CDTF">2019-05-09T05:39:56Z</dcterms:created>
  <dcterms:modified xsi:type="dcterms:W3CDTF">2019-11-12T14:42:17Z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oardevol@microsoft.com</vt:lpwstr>
  </property>
  <property fmtid="{D5CDD505-2E9C-101B-9397-08002B2CF9AE}" pid="5" name="MSIP_Label_f42aa342-8706-4288-bd11-ebb85995028c_SetDate">
    <vt:lpwstr>2019-05-24T10:53:05.1501835Z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7e36b083-1d9e-4341-9eb8-ff9c3fc6c18b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ContentTypeId">
    <vt:lpwstr>0x01010022A5E4F986F62E4E9427F30B20D2FFC6</vt:lpwstr>
  </property>
</Properties>
</file>